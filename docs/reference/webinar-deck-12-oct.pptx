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Relationship Id="rId5" Type="http://schemas.microsoft.com/office/2020/02/relationships/classificationlabels" Target="docMetadata/LabelInfo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880" y="911880"/>
            <a:ext cx="1056600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880" y="1607760"/>
            <a:ext cx="10566000" cy="443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/>
          <p:nvPr/>
        </p:nvPicPr>
        <p:blipFill>
          <a:blip r:embed="rId2"/>
          <a:stretch/>
        </p:blipFill>
        <p:spPr>
          <a:xfrm>
            <a:off x="10358640" y="360"/>
            <a:ext cx="1585800" cy="89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3" descr="A close-up of a city&#10;&#10;Description automatically generated"/>
          <p:cNvPicPr/>
          <p:nvPr/>
        </p:nvPicPr>
        <p:blipFill>
          <a:blip r:embed="rId3"/>
          <a:srcRect l="0" t="0" r="42363" b="0"/>
          <a:stretch/>
        </p:blipFill>
        <p:spPr>
          <a:xfrm>
            <a:off x="0" y="0"/>
            <a:ext cx="702648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" name="Group 4"/>
          <p:cNvGrpSpPr/>
          <p:nvPr/>
        </p:nvGrpSpPr>
        <p:grpSpPr>
          <a:xfrm>
            <a:off x="11091600" y="6454440"/>
            <a:ext cx="813960" cy="247320"/>
            <a:chOff x="11091600" y="6454440"/>
            <a:chExt cx="813960" cy="247320"/>
          </a:xfrm>
        </p:grpSpPr>
        <p:sp>
          <p:nvSpPr>
            <p:cNvPr id="7" name="Oval 5"/>
            <p:cNvSpPr/>
            <p:nvPr/>
          </p:nvSpPr>
          <p:spPr>
            <a:xfrm>
              <a:off x="11091600" y="6454440"/>
              <a:ext cx="247320" cy="247320"/>
            </a:xfrm>
            <a:prstGeom prst="ellipse">
              <a:avLst/>
            </a:prstGeom>
            <a:solidFill>
              <a:srgbClr val="1650A0"/>
            </a:solidFill>
            <a:ln>
              <a:solidFill>
                <a:srgbClr val="F4F2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Oval 6"/>
            <p:cNvSpPr/>
            <p:nvPr/>
          </p:nvSpPr>
          <p:spPr>
            <a:xfrm>
              <a:off x="11233080" y="6454440"/>
              <a:ext cx="247320" cy="247320"/>
            </a:xfrm>
            <a:prstGeom prst="ellipse">
              <a:avLst/>
            </a:prstGeom>
            <a:solidFill>
              <a:srgbClr val="FF5101"/>
            </a:solidFill>
            <a:ln>
              <a:solidFill>
                <a:srgbClr val="F4F2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74920" y="6454440"/>
              <a:ext cx="247320" cy="247320"/>
            </a:xfrm>
            <a:prstGeom prst="ellipse">
              <a:avLst/>
            </a:prstGeom>
            <a:solidFill>
              <a:srgbClr val="8C3190"/>
            </a:solidFill>
            <a:ln>
              <a:solidFill>
                <a:srgbClr val="F4F2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516760" y="6454440"/>
              <a:ext cx="247320" cy="247320"/>
            </a:xfrm>
            <a:prstGeom prst="ellipse">
              <a:avLst/>
            </a:prstGeom>
            <a:solidFill>
              <a:srgbClr val="077FA6"/>
            </a:solidFill>
            <a:ln>
              <a:solidFill>
                <a:srgbClr val="F4F2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658240" y="6454440"/>
              <a:ext cx="247320" cy="247320"/>
            </a:xfrm>
            <a:prstGeom prst="ellipse">
              <a:avLst/>
            </a:prstGeom>
            <a:solidFill>
              <a:srgbClr val="707070"/>
            </a:solidFill>
            <a:ln>
              <a:solidFill>
                <a:srgbClr val="F4F2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9"/>
          <p:cNvPicPr/>
          <p:nvPr/>
        </p:nvPicPr>
        <p:blipFill>
          <a:blip r:embed="rId2"/>
          <a:stretch/>
        </p:blipFill>
        <p:spPr>
          <a:xfrm>
            <a:off x="10358640" y="360"/>
            <a:ext cx="1585800" cy="891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" name="Straight Connector 10"/>
          <p:cNvCxnSpPr/>
          <p:nvPr/>
        </p:nvCxnSpPr>
        <p:spPr>
          <a:xfrm>
            <a:off x="60120" y="550800"/>
            <a:ext cx="6194880" cy="360"/>
          </a:xfrm>
          <a:prstGeom prst="straightConnector1">
            <a:avLst/>
          </a:prstGeom>
          <a:ln>
            <a:solidFill>
              <a:schemeClr val="dk1">
                <a:lumMod val="50000"/>
                <a:lumOff val="50000"/>
                <a:alpha val="70000"/>
              </a:schemeClr>
            </a:solidFill>
          </a:ln>
        </p:spPr>
      </p:cxnSp>
      <p:sp>
        <p:nvSpPr>
          <p:cNvPr id="16" name="Rectangle 12"/>
          <p:cNvSpPr/>
          <p:nvPr/>
        </p:nvSpPr>
        <p:spPr>
          <a:xfrm>
            <a:off x="11749680" y="6633000"/>
            <a:ext cx="38952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0</a:t>
            </a:r>
            <a:fld id="{075FF283-7536-4A6C-9460-A6AA671CD222}" type="slidenum">
              <a:rPr lang="en-US" sz="9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94760" y="131760"/>
            <a:ext cx="4458960" cy="42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>
              <a:buNone/>
              <a:defRPr lang="en-IN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Rectangle 1"/>
          <p:cNvSpPr/>
          <p:nvPr/>
        </p:nvSpPr>
        <p:spPr>
          <a:xfrm>
            <a:off x="3834000" y="6640920"/>
            <a:ext cx="45237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</a:rPr>
              <a:t>www.evoketechnologies.com | </a:t>
            </a:r>
            <a:r>
              <a:rPr lang="en-IN" sz="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</a:rPr>
              <a:t>Confidential – For Internal Use Only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" name="Straight Connector 2"/>
          <p:cNvCxnSpPr/>
          <p:nvPr/>
        </p:nvCxnSpPr>
        <p:spPr>
          <a:xfrm>
            <a:off x="0" y="6640560"/>
            <a:ext cx="12192120" cy="360"/>
          </a:xfrm>
          <a:prstGeom prst="straightConnector1">
            <a:avLst/>
          </a:prstGeom>
          <a:ln w="3175">
            <a:solidFill>
              <a:srgbClr val="16213A">
                <a:lumMod val="50000"/>
                <a:lumOff val="50000"/>
              </a:srgbClr>
            </a:solidFill>
          </a:ln>
        </p:spPr>
      </p:cxn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/>
          <p:cNvSpPr/>
          <p:nvPr/>
        </p:nvSpPr>
        <p:spPr>
          <a:xfrm>
            <a:off x="0" y="-38880"/>
            <a:ext cx="12191760" cy="6935400"/>
          </a:xfrm>
          <a:prstGeom prst="rect">
            <a:avLst/>
          </a:prstGeom>
          <a:blipFill rotWithShape="0">
            <a:blip r:embed="rId2">
              <a:alphaModFix amt="3000"/>
            </a:blip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" name="Picture 7"/>
          <p:cNvSpPr/>
          <p:nvPr/>
        </p:nvSpPr>
        <p:spPr>
          <a:xfrm>
            <a:off x="0" y="0"/>
            <a:ext cx="11821680" cy="6725160"/>
          </a:xfrm>
          <a:prstGeom prst="diagStripe">
            <a:avLst>
              <a:gd name="adj" fmla="val 45094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Isosceles Triangle 8"/>
          <p:cNvSpPr/>
          <p:nvPr/>
        </p:nvSpPr>
        <p:spPr>
          <a:xfrm flipV="1" rot="16200000">
            <a:off x="120240" y="756000"/>
            <a:ext cx="2786400" cy="2625840"/>
          </a:xfrm>
          <a:prstGeom prst="triangle">
            <a:avLst>
              <a:gd name="adj" fmla="val 50000"/>
            </a:avLst>
          </a:prstGeom>
          <a:solidFill>
            <a:srgbClr val="8B2F9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" name="Isosceles Triangle 9"/>
          <p:cNvSpPr/>
          <p:nvPr/>
        </p:nvSpPr>
        <p:spPr>
          <a:xfrm flipV="1" rot="16200000">
            <a:off x="4160880" y="484200"/>
            <a:ext cx="985680" cy="849600"/>
          </a:xfrm>
          <a:prstGeom prst="triangle">
            <a:avLst>
              <a:gd name="adj" fmla="val 50000"/>
            </a:avLst>
          </a:prstGeom>
          <a:solidFill>
            <a:srgbClr val="FF5101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" name="Isosceles Triangle 11"/>
          <p:cNvSpPr/>
          <p:nvPr/>
        </p:nvSpPr>
        <p:spPr>
          <a:xfrm flipV="1" rot="16200000">
            <a:off x="3033720" y="2464200"/>
            <a:ext cx="3402360" cy="2889360"/>
          </a:xfrm>
          <a:prstGeom prst="triangle">
            <a:avLst>
              <a:gd name="adj" fmla="val 49359"/>
            </a:avLst>
          </a:prstGeom>
          <a:solidFill>
            <a:srgbClr val="5959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8A8A8A"/>
              </a:solidFill>
              <a:effectLst/>
              <a:uFillTx/>
              <a:latin typeface="Arial"/>
            </a:endParaRPr>
          </a:p>
        </p:txBody>
      </p:sp>
      <p:grpSp>
        <p:nvGrpSpPr>
          <p:cNvPr id="26" name="Group 2"/>
          <p:cNvGrpSpPr/>
          <p:nvPr/>
        </p:nvGrpSpPr>
        <p:grpSpPr>
          <a:xfrm>
            <a:off x="9769680" y="6279840"/>
            <a:ext cx="2187720" cy="490320"/>
            <a:chOff x="9769680" y="6279840"/>
            <a:chExt cx="2187720" cy="490320"/>
          </a:xfrm>
        </p:grpSpPr>
        <p:sp>
          <p:nvSpPr>
            <p:cNvPr id="27" name="Rectangle 3"/>
            <p:cNvSpPr/>
            <p:nvPr/>
          </p:nvSpPr>
          <p:spPr>
            <a:xfrm>
              <a:off x="9826560" y="6279840"/>
              <a:ext cx="2130840" cy="27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www.evoketechnologies.com</a:t>
              </a:r>
              <a:endPara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Rectangle 4"/>
            <p:cNvSpPr/>
            <p:nvPr/>
          </p:nvSpPr>
          <p:spPr>
            <a:xfrm>
              <a:off x="9769680" y="6524280"/>
              <a:ext cx="218448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lt1">
                      <a:lumMod val="50000"/>
                    </a:schemeClr>
                  </a:solidFill>
                  <a:effectLst/>
                  <a:uFillTx/>
                  <a:latin typeface="Arial"/>
                </a:rPr>
                <a:t>Copyright © 2026 Evoke Technologies</a:t>
              </a:r>
              <a:endPara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9" name="Straight Connector 5"/>
            <p:cNvCxnSpPr/>
            <p:nvPr/>
          </p:nvCxnSpPr>
          <p:spPr>
            <a:xfrm>
              <a:off x="9772560" y="6544440"/>
              <a:ext cx="2093400" cy="360"/>
            </a:xfrm>
            <a:prstGeom prst="straightConnector1">
              <a:avLst/>
            </a:prstGeom>
            <a:ln>
              <a:solidFill>
                <a:srgbClr val="F4F2EC">
                  <a:lumMod val="50000"/>
                </a:srgbClr>
              </a:solidFill>
            </a:ln>
          </p:spPr>
        </p:cxnSp>
      </p:grpSp>
      <p:sp>
        <p:nvSpPr>
          <p:cNvPr id="30" name="Isosceles Triangle 10"/>
          <p:cNvSpPr/>
          <p:nvPr/>
        </p:nvSpPr>
        <p:spPr>
          <a:xfrm flipV="1" rot="16200000">
            <a:off x="1928880" y="4345200"/>
            <a:ext cx="2331360" cy="2009880"/>
          </a:xfrm>
          <a:prstGeom prst="triangle">
            <a:avLst>
              <a:gd name="adj" fmla="val 50000"/>
            </a:avLst>
          </a:prstGeom>
          <a:solidFill>
            <a:srgbClr val="7672F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1" name="Picture 1"/>
          <p:cNvPicPr/>
          <p:nvPr/>
        </p:nvPicPr>
        <p:blipFill>
          <a:blip r:embed="rId4"/>
          <a:stretch/>
        </p:blipFill>
        <p:spPr>
          <a:xfrm>
            <a:off x="156600" y="-68040"/>
            <a:ext cx="1752480" cy="985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2" name="Group 12"/>
          <p:cNvGrpSpPr/>
          <p:nvPr/>
        </p:nvGrpSpPr>
        <p:grpSpPr>
          <a:xfrm>
            <a:off x="8915040" y="6448680"/>
            <a:ext cx="825840" cy="198000"/>
            <a:chOff x="8915040" y="6448680"/>
            <a:chExt cx="825840" cy="198000"/>
          </a:xfrm>
        </p:grpSpPr>
        <p:sp>
          <p:nvSpPr>
            <p:cNvPr id="33" name="Oval 13"/>
            <p:cNvSpPr/>
            <p:nvPr/>
          </p:nvSpPr>
          <p:spPr>
            <a:xfrm>
              <a:off x="8915040" y="6448680"/>
              <a:ext cx="198000" cy="198000"/>
            </a:xfrm>
            <a:prstGeom prst="ellipse">
              <a:avLst/>
            </a:prstGeom>
            <a:solidFill>
              <a:srgbClr val="1650A0"/>
            </a:solidFill>
            <a:ln>
              <a:solidFill>
                <a:srgbClr val="F4F2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Oval 14"/>
            <p:cNvSpPr/>
            <p:nvPr/>
          </p:nvSpPr>
          <p:spPr>
            <a:xfrm>
              <a:off x="9072000" y="6448680"/>
              <a:ext cx="198000" cy="198000"/>
            </a:xfrm>
            <a:prstGeom prst="ellipse">
              <a:avLst/>
            </a:prstGeom>
            <a:solidFill>
              <a:srgbClr val="FF5101"/>
            </a:solidFill>
            <a:ln>
              <a:solidFill>
                <a:srgbClr val="F4F2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Oval 15"/>
            <p:cNvSpPr/>
            <p:nvPr/>
          </p:nvSpPr>
          <p:spPr>
            <a:xfrm>
              <a:off x="9228960" y="6448680"/>
              <a:ext cx="198000" cy="198000"/>
            </a:xfrm>
            <a:prstGeom prst="ellipse">
              <a:avLst/>
            </a:prstGeom>
            <a:solidFill>
              <a:srgbClr val="8C3190"/>
            </a:solidFill>
            <a:ln>
              <a:solidFill>
                <a:srgbClr val="F4F2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Oval 16"/>
            <p:cNvSpPr/>
            <p:nvPr/>
          </p:nvSpPr>
          <p:spPr>
            <a:xfrm>
              <a:off x="9385920" y="6448680"/>
              <a:ext cx="198000" cy="198000"/>
            </a:xfrm>
            <a:prstGeom prst="ellipse">
              <a:avLst/>
            </a:prstGeom>
            <a:solidFill>
              <a:srgbClr val="077FA6"/>
            </a:solidFill>
            <a:ln>
              <a:solidFill>
                <a:srgbClr val="F4F2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Oval 17"/>
            <p:cNvSpPr/>
            <p:nvPr/>
          </p:nvSpPr>
          <p:spPr>
            <a:xfrm>
              <a:off x="9542880" y="6448680"/>
              <a:ext cx="198000" cy="198000"/>
            </a:xfrm>
            <a:prstGeom prst="ellipse">
              <a:avLst/>
            </a:prstGeom>
            <a:solidFill>
              <a:srgbClr val="707070"/>
            </a:solidFill>
            <a:ln>
              <a:solidFill>
                <a:srgbClr val="F4F2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"/>
          <p:cNvPicPr/>
          <p:nvPr/>
        </p:nvPicPr>
        <p:blipFill>
          <a:blip r:embed="rId1"/>
          <a:stretch/>
        </p:blipFill>
        <p:spPr>
          <a:xfrm>
            <a:off x="720000" y="180000"/>
            <a:ext cx="10780920" cy="540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859320" y="900000"/>
            <a:ext cx="10120680" cy="468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"/>
          <p:cNvPicPr/>
          <p:nvPr/>
        </p:nvPicPr>
        <p:blipFill>
          <a:blip r:embed="rId1"/>
          <a:stretch/>
        </p:blipFill>
        <p:spPr>
          <a:xfrm>
            <a:off x="477720" y="641160"/>
            <a:ext cx="11394000" cy="52988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360000" y="1080000"/>
            <a:ext cx="11357640" cy="432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/>
          <p:cNvPicPr/>
          <p:nvPr/>
        </p:nvPicPr>
        <p:blipFill>
          <a:blip r:embed="rId1"/>
          <a:stretch/>
        </p:blipFill>
        <p:spPr>
          <a:xfrm>
            <a:off x="360000" y="1080000"/>
            <a:ext cx="11401920" cy="450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504000" y="1080000"/>
            <a:ext cx="11196000" cy="44686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/>
          <p:cNvPicPr/>
          <p:nvPr/>
        </p:nvPicPr>
        <p:blipFill>
          <a:blip r:embed="rId1"/>
          <a:stretch/>
        </p:blipFill>
        <p:spPr>
          <a:xfrm>
            <a:off x="540000" y="900000"/>
            <a:ext cx="11266920" cy="432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KT Session 1 — Production Portal: Agents &amp; Responses API">
  <a:themeElements>
    <a:clrScheme name="KT Session 1 — Production Portal: Agents &amp; Responses API">
      <a:dk1>
        <a:srgbClr val="16213A"/>
      </a:dk1>
      <a:lt1>
        <a:srgbClr val="F4F2EC"/>
      </a:lt1>
      <a:dk2>
        <a:srgbClr val="4E5567"/>
      </a:dk2>
      <a:lt2>
        <a:srgbClr val="DEDDDA"/>
      </a:lt2>
      <a:accent1>
        <a:srgbClr val="2F5D9E"/>
      </a:accent1>
      <a:accent2>
        <a:srgbClr val="A8501F"/>
      </a:accent2>
      <a:accent3>
        <a:srgbClr val="5B6475"/>
      </a:accent3>
      <a:accent4>
        <a:srgbClr val="C9D6EA"/>
      </a:accent4>
      <a:accent5>
        <a:srgbClr val="9AA0A6"/>
      </a:accent5>
      <a:accent6>
        <a:srgbClr val="6F7581"/>
      </a:accent6>
      <a:hlink>
        <a:srgbClr val="0563C1"/>
      </a:hlink>
      <a:folHlink>
        <a:srgbClr val="954F72"/>
      </a:folHlink>
    </a:clrScheme>
    <a:fontScheme name="KT Session 1 — Production Portal: Agents &amp; Responses API">
      <a:majorFont>
        <a:latin typeface="Arial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Metadata/LabelInfo.xml><?xml version="1.0" encoding="utf-8"?>
<clbl:labelList xmlns:clbl="http://schemas.microsoft.com/office/2020/mipLabelMetadata">
  <clbl:label id="{e1c5d9ee-a951-451e-8432-642c23d40071}" enabled="0" method="" siteId="{e1c5d9ee-a951-451e-8432-642c23d4007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LibreOffice/26.8.1.1$Windows_X86_64 LibreOffice_project/bf6ef2662401c7d6dce671ab4deb26ee0af3a7c1</Application>
  <AppVersion>15.0000</AppVersion>
  <Words>581</Words>
  <Paragraphs>69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2026-10-12T10:11:18Z</dcterms:created>
  <dc:creator/>
  <dc:description/>
  <dc:language>en-IN</dc:language>
  <cp:lastModifiedBy/>
  <dcterms:modified xsi:type="dcterms:W3CDTF">2026-10-19T14:10:31Z</dcterms:modified>
  <cp:revision>2</cp:revision>
  <dc:subject/>
  <dc:title>KT Session 1 — Production Portal: Agents &amp; Responses API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