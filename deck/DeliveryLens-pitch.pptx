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82cd84a-f6e9-19ff-8886-14ab8094c19e}">
          <p14:sldIdLst>
            <p14:sldId id="256"/>
          </p14:sldIdLst>
        </p14:section>
        <p14:section name="1 · Discovery insights &amp; the key problem" id="{8ba11b07-7fe2-91c3-2dd5-23ccb811a46f}">
          <p14:sldIdLst>
            <p14:sldId id="257"/>
            <p14:sldId id="258"/>
            <p14:sldId id="259"/>
          </p14:sldIdLst>
        </p14:section>
        <p14:section name="2 · Solution approach &amp; architecture" id="{75c35ae6-e0a7-6387-c6d0-440c032afe1e}">
          <p14:sldIdLst>
            <p14:sldId id="260"/>
            <p14:sldId id="261"/>
            <p14:sldId id="262"/>
          </p14:sldIdLst>
        </p14:section>
        <p14:section name="3 · AI agents used" id="{1c9445f7-6dc2-ba68-02b6-3dd07a292337}">
          <p14:sldIdLst>
            <p14:sldId id="263"/>
            <p14:sldId id="264"/>
            <p14:sldId id="265"/>
          </p14:sldIdLst>
        </p14:section>
        <p14:section name="4 · Quality, validation &amp; security" id="{f188e63c-c86a-28fb-ff38-328075cac695}">
          <p14:sldIdLst>
            <p14:sldId id="266"/>
            <p14:sldId id="267"/>
          </p14:sldIdLst>
        </p14:section>
        <p14:section name="5 · Metrics &amp; business impact" id="{66a7be34-d419-9085-014c-368f1f17bfaf}">
          <p14:sldIdLst>
            <p14:sldId id="268"/>
            <p14:sldId id="269"/>
            <p14:sldId id="270"/>
          </p14:sldIdLst>
        </p14:section>
        <p14:section name="6 · Future scope" id="{6672af72-4a61-8f0a-3bb4-d7840a4c71ea}">
          <p14:sldIdLst>
            <p14:sldId id="271"/>
            <p14:sldId id="272"/>
          </p14:sldIdLst>
        </p14:section>
        <p14:section name="7 · Live demo" id="{3f3e7e60-6c55-c27b-4262-40059d74c4d3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1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12B"/>
                </a:solidFill>
                <a:latin typeface="+mn-lt"/>
              </a:rPr>
              <a:t>On-time points lost to each cause (fair share)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 lost</c:v>
                </c:pt>
              </c:strCache>
            </c:strRef>
          </c:tx>
          <c:spPr>
            <a:solidFill>
              <a:srgbClr val="A84F0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1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Weak carrier on that lane (D everywhere, E to West, F to Northeast/Southeast)</c:v>
                  </c:pt>
                  <c:pt idx="1">
                    <c:v>Address incomplete when the order came in</c:v>
                  </c:pt>
                  <c:pt idx="2">
                    <c:v>Same-day order received after the 08:00 pick-list cutoff</c:v>
                  </c:pt>
                  <c:pt idx="3">
                    <c:v>Nearest warehouse had no stock, shipped from further away</c:v>
                  </c:pt>
                  <c:pt idx="4">
                    <c:v>Driver went more than 20% beyond the planned route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</c:v>
                </c:pt>
                <c:pt idx="1">
                  <c:v>6.9</c:v>
                </c:pt>
                <c:pt idx="2">
                  <c:v>5.4</c:v>
                </c:pt>
                <c:pt idx="3">
                  <c:v>4.9</c:v>
                </c:pt>
                <c:pt idx="4">
                  <c:v>3.1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521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1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1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12B"/>
                </a:solidFill>
                <a:latin typeface="+mn-lt"/>
              </a:rPr>
              <a:t>On-time delivery % (industry benchmark 94%)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On-time %</c:v>
                </c:pt>
              </c:strCache>
            </c:strRef>
          </c:tx>
          <c:spPr>
            <a:solidFill>
              <a:srgbClr val="A84F0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521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4F0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6B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7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6B6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521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Routing vendor only</c:v>
                  </c:pt>
                  <c:pt idx="2">
                    <c:v>3 process fixes</c:v>
                  </c:pt>
                  <c:pt idx="3">
                    <c:v>All 5, realistic</c:v>
                  </c:pt>
                  <c:pt idx="4">
                    <c:v>All 5, ceiling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</c:v>
                </c:pt>
                <c:pt idx="1">
                  <c:v>80.2</c:v>
                </c:pt>
                <c:pt idx="2">
                  <c:v>86.7</c:v>
                </c:pt>
                <c:pt idx="3">
                  <c:v>90.2</c:v>
                </c:pt>
                <c:pt idx="4">
                  <c:v>99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521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1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0"/>
        <c:axPos val="l"/>
        <c:majorGridlines>
          <c:spPr>
            <a:ln w="12700" cap="flat">
              <a:solidFill>
                <a:srgbClr val="F3F5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as advisers to Halcyon's COO and CFO. One sentence: before you sign the routing contract, here is what the data says.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Discovery: we asked 12 data-driven questions through the L&amp;D log (docs/working); answers due Mon 26 Oct. Main reframe: most lateness starts before the truck, and the carrier problem is lane choice, not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 share = Shapley split, so overlapping causes are not double counted. Weak lanes were picked with a fixed rule on Apr-Jun and confirmed on Jul-Sep.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Guardrails: PII redacted in logs, prompt injection blocked, AI never computes KPIs, every call logged in agent_runs.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Ceiling 99.0% if every cause is fully removed. Each fix must work about 84% of the time to reach 94%. Money = 6 months x2; costs are our estimates. Revenue at risk ($14.2M) comes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5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E6B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Halcyon DeliveryLens · Team InfinityStacks · EvoHack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Halcyon DeliveryLens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Why 29% of deliveries are late, and why the $680K routing engine is not the main fix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Team InfinityStacks · Sravan Kumar D · Sai M · Dinesh K · EvoHack 2026, Problem 2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 · Discovery insights &amp; the key problem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What we were told, what we asked, what the data says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brief: "routing is broken, sign the vendor"</a:t>
            </a:r>
            <a:endParaRPr lang="en-US" sz="3200" dirty="0"/>
          </a:p>
        </p:txBody>
      </p:sp>
      <p:sp>
        <p:nvSpPr>
          <p:cNvPr id="3" name="otd-card"/>
          <p:cNvSpPr/>
          <p:nvPr/>
        </p:nvSpPr>
        <p:spPr>
          <a:xfrm>
            <a:off x="54864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4" name="otd-value"/>
          <p:cNvSpPr txBox="1"/>
          <p:nvPr/>
        </p:nvSpPr>
        <p:spPr>
          <a:xfrm>
            <a:off x="7772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71.0%</a:t>
            </a:r>
            <a:endParaRPr lang="en-US" sz="3600" dirty="0"/>
          </a:p>
        </p:txBody>
      </p:sp>
      <p:sp>
        <p:nvSpPr>
          <p:cNvPr id="5" name="otd-label"/>
          <p:cNvSpPr txBox="1"/>
          <p:nvPr/>
        </p:nvSpPr>
        <p:spPr>
          <a:xfrm>
            <a:off x="77724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On-time today (benchmark 94%)</a:t>
            </a:r>
            <a:endParaRPr lang="en-US" sz="1400" dirty="0"/>
          </a:p>
        </p:txBody>
      </p:sp>
      <p:sp>
        <p:nvSpPr>
          <p:cNvPr id="6" name="complaints-card"/>
          <p:cNvSpPr/>
          <p:nvPr/>
        </p:nvSpPr>
        <p:spPr>
          <a:xfrm>
            <a:off x="338328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7" name="complaints-value"/>
          <p:cNvSpPr txBox="1"/>
          <p:nvPr/>
        </p:nvSpPr>
        <p:spPr>
          <a:xfrm>
            <a:off x="361188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34</a:t>
            </a:r>
            <a:endParaRPr lang="en-US" sz="3600" dirty="0"/>
          </a:p>
        </p:txBody>
      </p:sp>
      <p:sp>
        <p:nvSpPr>
          <p:cNvPr id="8" name="complaints-label"/>
          <p:cNvSpPr txBox="1"/>
          <p:nvPr/>
        </p:nvSpPr>
        <p:spPr>
          <a:xfrm>
            <a:off x="361188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Formal complaints in 90 days</a:t>
            </a:r>
            <a:endParaRPr lang="en-US" sz="1400" dirty="0"/>
          </a:p>
        </p:txBody>
      </p:sp>
      <p:sp>
        <p:nvSpPr>
          <p:cNvPr id="9" name="risk-card"/>
          <p:cNvSpPr/>
          <p:nvPr/>
        </p:nvSpPr>
        <p:spPr>
          <a:xfrm>
            <a:off x="621792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0" name="risk-value"/>
          <p:cNvSpPr txBox="1"/>
          <p:nvPr/>
        </p:nvSpPr>
        <p:spPr>
          <a:xfrm>
            <a:off x="644652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$14.2M</a:t>
            </a:r>
            <a:endParaRPr lang="en-US" sz="3600" dirty="0"/>
          </a:p>
        </p:txBody>
      </p:sp>
      <p:sp>
        <p:nvSpPr>
          <p:cNvPr id="11" name="risk-label"/>
          <p:cNvSpPr txBox="1"/>
          <p:nvPr/>
        </p:nvSpPr>
        <p:spPr>
          <a:xfrm>
            <a:off x="644652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Annual revenue at risk (9 clients)</a:t>
            </a:r>
            <a:endParaRPr lang="en-US" sz="1400" dirty="0"/>
          </a:p>
        </p:txBody>
      </p:sp>
      <p:sp>
        <p:nvSpPr>
          <p:cNvPr id="12" name="vendor-card"/>
          <p:cNvSpPr/>
          <p:nvPr/>
        </p:nvSpPr>
        <p:spPr>
          <a:xfrm>
            <a:off x="9052560" y="1371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3" name="vendor-value"/>
          <p:cNvSpPr txBox="1"/>
          <p:nvPr/>
        </p:nvSpPr>
        <p:spPr>
          <a:xfrm>
            <a:off x="928116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$680K</a:t>
            </a:r>
            <a:endParaRPr lang="en-US" sz="3600" dirty="0"/>
          </a:p>
        </p:txBody>
      </p:sp>
      <p:sp>
        <p:nvSpPr>
          <p:cNvPr id="14" name="vendor-label"/>
          <p:cNvSpPr txBox="1"/>
          <p:nvPr/>
        </p:nvSpPr>
        <p:spPr>
          <a:xfrm>
            <a:off x="928116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Routing vendor budget, 2 weeks to sign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Leadership's view: carrier routing and selection is inefficient; a smarter routing engine will fix on-time delivery and stop churn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stakeholder's warning (Swarna): don't assume. Map the whole chain, find where lateness really starts, prove each fix with numbers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Our job as FDEs: establish what is really happening, with evidence, before the contract is signed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Five causes explain the gap, not one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lean-card"/>
          <p:cNvSpPr/>
          <p:nvPr/>
        </p:nvSpPr>
        <p:spPr>
          <a:xfrm>
            <a:off x="7680960" y="13716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5" name="clean-value"/>
          <p:cNvSpPr txBox="1"/>
          <p:nvPr/>
        </p:nvSpPr>
        <p:spPr>
          <a:xfrm>
            <a:off x="7909560" y="15087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99.0%</a:t>
            </a:r>
            <a:endParaRPr lang="en-US" sz="3600" dirty="0"/>
          </a:p>
        </p:txBody>
      </p:sp>
      <p:sp>
        <p:nvSpPr>
          <p:cNvPr id="6" name="clean-label"/>
          <p:cNvSpPr txBox="1"/>
          <p:nvPr/>
        </p:nvSpPr>
        <p:spPr>
          <a:xfrm>
            <a:off x="7909560" y="22402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On-time for deliveries with none of the 5 problems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10896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48,340 deliveries, Apr–Sep 2026; causes found by tagging every delivery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Holds on unseen months: rules picked on Apr–Jun give 98.9% on Jul–Sep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5 causes explain 28 of the 29 points lost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Biggest: weak carrier lanes (Carrier D everywhere); then incomplete addresses (28% of email orders)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2 · Solution approach &amp; architecture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One fix per cause, on AWS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DeliveryLens: one fix for each cause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06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Cause (points lost)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Fix in DeliveryLens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6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Weak carrier on a lane (7.7)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Carrier choice by lane: Carrier D nowhere; E not to the West; F not to the Northeast/Southeast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Incomplete address (6.9)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Order Intake Agent reads the order, flags missing fields, drafts a request to the client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Same-day after 08:00 (5.4)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Promise check at intake: next-day or second pick wave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Stock not at nearest warehouse (4.9)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Stock placement view: regions that run out most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Route deviation (3.1)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Route deviation watch: the part routing software fixes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"Nobody told us" (12 of 34 complaints)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B"/>
                          </a:solidFill>
                        </a:rPr>
                        <a:t>Delay Alert Agent drafts a proactive message, a person approves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3F5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Architecture: only the 9 AWS services we requested</a:t>
            </a:r>
            <a:endParaRPr lang="en-US" sz="3200" dirty="0"/>
          </a:p>
        </p:txBody>
      </p:sp>
      <p:pic>
        <p:nvPicPr>
          <p:cNvPr id="3" name="aws-diagram" descr="/home/user/halcyon-deliverylens/deck/assets/aws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8229600" cy="4840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61120" y="1371600"/>
            <a:ext cx="26517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Amplify hosts the React web app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EC2 runs the FastAPI container (image from ECR), HTTPS via Caddy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RDS PostgreSQL holds data and every AI call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Bedrock (Claude) powers the agents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S3, Secrets Manager, CloudWatch, IAM least privilege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 · AI agents used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Inside the product, and across every role that built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AI agents inside DeliveryLens</a:t>
            </a:r>
            <a:endParaRPr lang="en-US" sz="3200" dirty="0"/>
          </a:p>
        </p:txBody>
      </p:sp>
      <p:sp>
        <p:nvSpPr>
          <p:cNvPr id="3" name="agent-0"/>
          <p:cNvSpPr/>
          <p:nvPr/>
        </p:nvSpPr>
        <p:spPr>
          <a:xfrm>
            <a:off x="548640" y="13716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Order Intake Agent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0195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Reads an email order, finds the missing postcode, drafts the follow-up. Rules check the result.</a:t>
            </a:r>
            <a:endParaRPr lang="en-US" sz="1400" dirty="0"/>
          </a:p>
        </p:txBody>
      </p:sp>
      <p:sp>
        <p:nvSpPr>
          <p:cNvPr id="6" name="agent-1"/>
          <p:cNvSpPr/>
          <p:nvPr/>
        </p:nvSpPr>
        <p:spPr>
          <a:xfrm>
            <a:off x="54864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0815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Delay Alert Agent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0215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Tells the client before they chase: what is late, why, the new date. A person approves.</a:t>
            </a:r>
            <a:endParaRPr lang="en-US" sz="1400" dirty="0"/>
          </a:p>
        </p:txBody>
      </p:sp>
      <p:sp>
        <p:nvSpPr>
          <p:cNvPr id="9" name="agent-2"/>
          <p:cNvSpPr/>
          <p:nvPr/>
        </p:nvSpPr>
        <p:spPr>
          <a:xfrm>
            <a:off x="548640" y="45720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8172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Ask DeliveryLens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10235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Leaders ask in plain English; answers quote the numbers from our analysis.</a:t>
            </a:r>
            <a:endParaRPr lang="en-US" sz="1400" dirty="0"/>
          </a:p>
        </p:txBody>
      </p:sp>
      <p:pic>
        <p:nvPicPr>
          <p:cNvPr id="12" name="order-intake-shot" descr="/home/user/halcyon-deliverylens/docs/screenshots/order-int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80160"/>
            <a:ext cx="4299546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AI-first delivery: an agent in every role</a:t>
            </a:r>
            <a:endParaRPr lang="en-US" sz="3200" dirty="0"/>
          </a:p>
        </p:txBody>
      </p:sp>
      <p:pic>
        <p:nvPicPr>
          <p:cNvPr id="3" name="pipeline" descr="/home/user/halcyon-deliverylens/deck/assets/agent-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98708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64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Business analyst: transcripts → assumptions and 12 discovery questions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Data analyst: found and sized the 5 causes; holdout check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Architect: C4 + AWS design · DevOps: AWS scripts, CI/CD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Backend and frontend developer agents built in parallel; test agent wrote E2E tests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Reality Checker reviewed the solution like a judge · every session logged in ai-logs/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· Quality, validation &amp; security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Evidence, not claims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Tested, validated and secured</a:t>
            </a:r>
            <a:endParaRPr lang="en-US" sz="3200" dirty="0"/>
          </a:p>
        </p:txBody>
      </p:sp>
      <p:sp>
        <p:nvSpPr>
          <p:cNvPr id="3" name="be-card"/>
          <p:cNvSpPr/>
          <p:nvPr/>
        </p:nvSpPr>
        <p:spPr>
          <a:xfrm>
            <a:off x="54864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4" name="be-value"/>
          <p:cNvSpPr txBox="1"/>
          <p:nvPr/>
        </p:nvSpPr>
        <p:spPr>
          <a:xfrm>
            <a:off x="7772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106</a:t>
            </a:r>
            <a:endParaRPr lang="en-US" sz="3600" dirty="0"/>
          </a:p>
        </p:txBody>
      </p:sp>
      <p:sp>
        <p:nvSpPr>
          <p:cNvPr id="5" name="be-label"/>
          <p:cNvSpPr txBox="1"/>
          <p:nvPr/>
        </p:nvSpPr>
        <p:spPr>
          <a:xfrm>
            <a:off x="77724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Backend tests on SQLite + PostgreSQL (93% coverage)</a:t>
            </a:r>
            <a:endParaRPr lang="en-US" sz="1400" dirty="0"/>
          </a:p>
        </p:txBody>
      </p:sp>
      <p:sp>
        <p:nvSpPr>
          <p:cNvPr id="6" name="fe-card"/>
          <p:cNvSpPr/>
          <p:nvPr/>
        </p:nvSpPr>
        <p:spPr>
          <a:xfrm>
            <a:off x="338328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7" name="fe-value"/>
          <p:cNvSpPr txBox="1"/>
          <p:nvPr/>
        </p:nvSpPr>
        <p:spPr>
          <a:xfrm>
            <a:off x="361188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22</a:t>
            </a:r>
            <a:endParaRPr lang="en-US" sz="3600" dirty="0"/>
          </a:p>
        </p:txBody>
      </p:sp>
      <p:sp>
        <p:nvSpPr>
          <p:cNvPr id="8" name="fe-label"/>
          <p:cNvSpPr txBox="1"/>
          <p:nvPr/>
        </p:nvSpPr>
        <p:spPr>
          <a:xfrm>
            <a:off x="361188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Browser end-to-end tests on every screen and agent</a:t>
            </a:r>
            <a:endParaRPr lang="en-US" sz="1400" dirty="0"/>
          </a:p>
        </p:txBody>
      </p:sp>
      <p:sp>
        <p:nvSpPr>
          <p:cNvPr id="9" name="hold-card"/>
          <p:cNvSpPr/>
          <p:nvPr/>
        </p:nvSpPr>
        <p:spPr>
          <a:xfrm>
            <a:off x="6217920" y="137160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0" name="hold-value"/>
          <p:cNvSpPr txBox="1"/>
          <p:nvPr/>
        </p:nvSpPr>
        <p:spPr>
          <a:xfrm>
            <a:off x="644652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98.9%</a:t>
            </a:r>
            <a:endParaRPr lang="en-US" sz="3600" dirty="0"/>
          </a:p>
        </p:txBody>
      </p:sp>
      <p:sp>
        <p:nvSpPr>
          <p:cNvPr id="11" name="hold-label"/>
          <p:cNvSpPr txBox="1"/>
          <p:nvPr/>
        </p:nvSpPr>
        <p:spPr>
          <a:xfrm>
            <a:off x="644652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Unseen-months check (Jul–Sep, no problem)</a:t>
            </a:r>
            <a:endParaRPr lang="en-US" sz="1400" dirty="0"/>
          </a:p>
        </p:txBody>
      </p:sp>
      <p:sp>
        <p:nvSpPr>
          <p:cNvPr id="12" name="sec-card"/>
          <p:cNvSpPr/>
          <p:nvPr/>
        </p:nvSpPr>
        <p:spPr>
          <a:xfrm>
            <a:off x="9052560" y="137160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3" name="sec-value"/>
          <p:cNvSpPr txBox="1"/>
          <p:nvPr/>
        </p:nvSpPr>
        <p:spPr>
          <a:xfrm>
            <a:off x="928116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14" name="sec-label"/>
          <p:cNvSpPr txBox="1"/>
          <p:nvPr/>
        </p:nvSpPr>
        <p:spPr>
          <a:xfrm>
            <a:off x="9281160" y="22402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High-severity bandit findings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CI on every push: backend, frontend and Postgres tests, security scans, and a re-run of the analysis that must reproduce the headline numbers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guardrails: personal data hidden in logs, prompt injection blocked, human approval before any client message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AWS: HTTPS only, database not public, least-privilege IAM, secrets in Secrets Manager, synthetic data only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 · Metrics &amp; business impact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What each option buys Halcyon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Routing alone: 80.2%. Realistic plan: 90.2%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all-card"/>
          <p:cNvSpPr/>
          <p:nvPr/>
        </p:nvSpPr>
        <p:spPr>
          <a:xfrm>
            <a:off x="7863840" y="1371600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5" name="all-value"/>
          <p:cNvSpPr txBox="1"/>
          <p:nvPr/>
        </p:nvSpPr>
        <p:spPr>
          <a:xfrm>
            <a:off x="8092440" y="15087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$1.44M / yr</a:t>
            </a:r>
            <a:endParaRPr lang="en-US" sz="3600" dirty="0"/>
          </a:p>
        </p:txBody>
      </p:sp>
      <p:sp>
        <p:nvSpPr>
          <p:cNvPr id="6" name="all-label"/>
          <p:cNvSpPr txBox="1"/>
          <p:nvPr/>
        </p:nvSpPr>
        <p:spPr>
          <a:xfrm>
            <a:off x="8092440" y="2240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Net benefit, realistic plan (cost $359K/yr est.)</a:t>
            </a:r>
            <a:endParaRPr lang="en-US" sz="1400" dirty="0"/>
          </a:p>
        </p:txBody>
      </p:sp>
      <p:sp>
        <p:nvSpPr>
          <p:cNvPr id="7" name="proc-card"/>
          <p:cNvSpPr/>
          <p:nvPr/>
        </p:nvSpPr>
        <p:spPr>
          <a:xfrm>
            <a:off x="7863840" y="3017520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8" name="proc-value"/>
          <p:cNvSpPr txBox="1"/>
          <p:nvPr/>
        </p:nvSpPr>
        <p:spPr>
          <a:xfrm>
            <a:off x="8092440" y="3154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$806K / yr</a:t>
            </a:r>
            <a:endParaRPr lang="en-US" sz="3600" dirty="0"/>
          </a:p>
        </p:txBody>
      </p:sp>
      <p:sp>
        <p:nvSpPr>
          <p:cNvPr id="9" name="proc-label"/>
          <p:cNvSpPr txBox="1"/>
          <p:nvPr/>
        </p:nvSpPr>
        <p:spPr>
          <a:xfrm>
            <a:off x="8092440" y="3886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Same plan, counting penalties only (cautious)</a:t>
            </a:r>
            <a:endParaRPr lang="en-US" sz="1400" dirty="0"/>
          </a:p>
        </p:txBody>
      </p:sp>
      <p:sp>
        <p:nvSpPr>
          <p:cNvPr id="10" name="route-card"/>
          <p:cNvSpPr/>
          <p:nvPr/>
        </p:nvSpPr>
        <p:spPr>
          <a:xfrm>
            <a:off x="7863840" y="4663440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1" name="route-value"/>
          <p:cNvSpPr txBox="1"/>
          <p:nvPr/>
        </p:nvSpPr>
        <p:spPr>
          <a:xfrm>
            <a:off x="8092440" y="4800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−$160K / yr</a:t>
            </a:r>
            <a:endParaRPr lang="en-US" sz="3600" dirty="0"/>
          </a:p>
        </p:txBody>
      </p:sp>
      <p:sp>
        <p:nvSpPr>
          <p:cNvPr id="12" name="route-label"/>
          <p:cNvSpPr txBox="1"/>
          <p:nvPr/>
        </p:nvSpPr>
        <p:spPr>
          <a:xfrm>
            <a:off x="8092440" y="5532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Routing vendor, penalties only, after the $680K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recommendation: don't sign as scoped, reshape it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0E6B63"/>
          </a:solidFill>
          <a:ln w="12700">
            <a:solidFill>
              <a:srgbClr val="0E6B6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Weeks 1–4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Fix the process causes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7744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Address check at intake, same-day promise rule or second pick wave, monthly stock rebalancing</a:t>
            </a:r>
            <a:endParaRPr lang="en-US" sz="1500" dirty="0"/>
          </a:p>
        </p:txBody>
      </p:sp>
      <p:sp>
        <p:nvSpPr>
          <p:cNvPr id="8" name="step-1"/>
          <p:cNvSpPr/>
          <p:nvPr/>
        </p:nvSpPr>
        <p:spPr>
          <a:xfrm>
            <a:off x="4297680" y="1463040"/>
            <a:ext cx="640080" cy="640080"/>
          </a:xfrm>
          <a:prstGeom prst="ellipse">
            <a:avLst/>
          </a:prstGeom>
          <a:solidFill>
            <a:srgbClr val="0E6B63"/>
          </a:solidFill>
          <a:ln w="12700">
            <a:solidFill>
              <a:srgbClr val="0E6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Weeks 2–6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7492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Choose carriers by lane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37744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Stop Carrier D and the weak E/F lanes; no new software, ~$84K/yr higher rates</a:t>
            </a:r>
            <a:endParaRPr lang="en-US" sz="1500" dirty="0"/>
          </a:p>
        </p:txBody>
      </p:sp>
      <p:sp>
        <p:nvSpPr>
          <p:cNvPr id="13" name="step-2"/>
          <p:cNvSpPr/>
          <p:nvPr/>
        </p:nvSpPr>
        <p:spPr>
          <a:xfrm>
            <a:off x="8046720" y="1463040"/>
            <a:ext cx="640080" cy="640080"/>
          </a:xfrm>
          <a:prstGeom prst="ellipse">
            <a:avLst/>
          </a:prstGeom>
          <a:solidFill>
            <a:srgbClr val="0E6B63"/>
          </a:solidFill>
          <a:ln w="12700">
            <a:solidFill>
              <a:srgbClr val="0E6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82396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Then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82396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Small routing pilot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0" y="237744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on lanes with high route deviation; measure before scaling (~3 points at stake)</a:t>
            </a:r>
            <a:endParaRPr lang="en-US" sz="1500" dirty="0"/>
          </a:p>
        </p:txBody>
      </p:sp>
      <p:sp>
        <p:nvSpPr>
          <p:cNvPr id="18" name="target"/>
          <p:cNvSpPr/>
          <p:nvPr/>
        </p:nvSpPr>
        <p:spPr>
          <a:xfrm>
            <a:off x="548640" y="438912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3F5F4"/>
          </a:solidFill>
          <a:ln w="12700">
            <a:solidFill>
              <a:srgbClr val="F3F5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52628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63"/>
                </a:solidFill>
              </a:rPr>
              <a:t>Realistic: 90.2% on time, $1.44M a year net.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94%+ if each fix works about 84% of the time. Start proactive delay alerts for the 9 at-risk clients ($14.2M) on day 1.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6 · Future scope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From hackathon slice to Halcyon rollout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Next 90 days and beyond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5836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feeds: WMS orders and carrier events (APIs for A–C; portal/batch for D–F) instead of CSV exports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Order Intake Agent in the email inbox itself, before orders reach the pick list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Daily at-risk shipment scoring and automatic delay alerts with approval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Measure weekly: on-time %, penalties, complaints, for the 9 at-risk clients first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Reusable for other Evoke logistics and manufacturing clients: same causes, same agents</a:t>
            </a:r>
            <a:endParaRPr lang="en-US" sz="1600" dirty="0"/>
          </a:p>
        </p:txBody>
      </p:sp>
      <p:pic>
        <p:nvPicPr>
          <p:cNvPr id="4" name="whatif-shot" descr="/home/user/halcyon-deliverylens/docs/screenshots/what-i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280160"/>
            <a:ext cx="4206240" cy="363445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7 · Live demo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Running on AWS with Claude on Bedrock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 path (6 minutes)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Overview: 71% today, 90% realistic, 99% ceiling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Why late: waterfall → click a cause → open a delivery → Draft delay alert (AI)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Vendor decision: routing only 80.2%, plus the business case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Order intake: paste an email with a missing postcode → flagged + follow-up drafted (AI)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What-if: switch on the 3 process fixes → about 87%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Ask DeliveryLens: "Which carrier is worst in the Southeast?"</a:t>
            </a:r>
            <a:endParaRPr lang="en-US" sz="1600" dirty="0"/>
          </a:p>
        </p:txBody>
      </p:sp>
      <p:pic>
        <p:nvPicPr>
          <p:cNvPr id="4" name="overview-shot" descr="/home/user/halcyon-deliverylens/docs/screenshots/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280160"/>
            <a:ext cx="5284559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 five causes, not just the routes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71% → 90.2% on time (realistic) · $1.44M a year net · $14.2M of revenue protected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liveryLens">
  <a:themeElements>
    <a:clrScheme name="DeliveryLens">
      <a:dk1>
        <a:srgbClr val="15212B"/>
      </a:dk1>
      <a:lt1>
        <a:srgbClr val="FFFFFF"/>
      </a:lt1>
      <a:dk2>
        <a:srgbClr val="0E6B63"/>
      </a:dk2>
      <a:lt2>
        <a:srgbClr val="F3F5F4"/>
      </a:lt2>
      <a:accent1>
        <a:srgbClr val="0E6B63"/>
      </a:accent1>
      <a:accent2>
        <a:srgbClr val="A84F0B"/>
      </a:accent2>
      <a:accent3>
        <a:srgbClr val="5E6B75"/>
      </a:accent3>
      <a:accent4>
        <a:srgbClr val="15212B"/>
      </a:accent4>
      <a:accent5>
        <a:srgbClr val="7FB7B0"/>
      </a:accent5>
      <a:accent6>
        <a:srgbClr val="E6A671"/>
      </a:accent6>
      <a:hlink>
        <a:srgbClr val="0E6B63"/>
      </a:hlink>
      <a:folHlink>
        <a:srgbClr val="5E6B75"/>
      </a:folHlink>
    </a:clrScheme>
    <a:fontScheme name="DeliveryLen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Halcyon DeliveryLens</dc:title>
  <dc:subject>PptxGenJS Presentation</dc:subject>
  <dc:creator>Team InfinityStacks</dc:creator>
  <cp:lastModifiedBy>Team InfinityStacks</cp:lastModifiedBy>
  <cp:revision>1</cp:revision>
  <dcterms:created xsi:type="dcterms:W3CDTF">2026-10-23T12:27:24Z</dcterms:created>
  <dcterms:modified xsi:type="dcterms:W3CDTF">2026-10-23T12:27:24Z</dcterms:modified>
</cp:coreProperties>
</file>